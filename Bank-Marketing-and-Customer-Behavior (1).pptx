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7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embeddedFontLst>
    <p:embeddedFont>
      <p:font typeface="Century Gothic" panose="020B0502020202020204" pitchFamily="34" charset="0"/>
      <p:regular r:id="rId11"/>
      <p:bold r:id="rId12"/>
      <p:italic r:id="rId13"/>
      <p:boldItalic r:id="rId14"/>
    </p:embeddedFont>
    <p:embeddedFont>
      <p:font typeface="Roboto" panose="02000000000000000000" pitchFamily="2" charset="0"/>
      <p:regular r:id="rId15"/>
    </p:embeddedFont>
    <p:embeddedFont>
      <p:font typeface="Roboto Medium" panose="02000000000000000000" pitchFamily="2" charset="0"/>
      <p:regular r:id="rId16"/>
    </p:embeddedFont>
    <p:embeddedFont>
      <p:font typeface="Wingdings 3" panose="05040102010807070707" pitchFamily="18" charset="2"/>
      <p:regular r:id="rId1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6297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216" y="1085850"/>
            <a:ext cx="6619244" cy="2497186"/>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66216" y="3583035"/>
            <a:ext cx="6619244" cy="646065"/>
          </a:xfrm>
        </p:spPr>
        <p:txBody>
          <a:bodyPr anchor="t"/>
          <a:lstStyle>
            <a:lvl1pPr marL="0" indent="0" algn="l">
              <a:buNone/>
              <a:defRPr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8554026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0262161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217" y="2146300"/>
            <a:ext cx="6619243" cy="143673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7716234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485" y="1545432"/>
            <a:ext cx="3297254" cy="3146822"/>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0870" y="1542069"/>
            <a:ext cx="3297256" cy="315018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7/25/2026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5843872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485" y="1428750"/>
            <a:ext cx="329725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27485"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0872" y="1428750"/>
            <a:ext cx="329725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240872" y="1885950"/>
            <a:ext cx="3297254" cy="2806304"/>
          </a:xfrm>
        </p:spPr>
        <p:txBody>
          <a:bodyPr>
            <a:normAutofit/>
          </a:bodyPr>
          <a:lstStyle>
            <a:lvl1pPr>
              <a:defRPr sz="1350"/>
            </a:lvl1pPr>
            <a:lvl2pPr>
              <a:defRPr sz="1200"/>
            </a:lvl2pPr>
            <a:lvl3pPr>
              <a:defRPr sz="105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7/25/2026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82936246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1790192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4894467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2550798" cy="1085850"/>
          </a:xfrm>
        </p:spPr>
        <p:txBody>
          <a:bodyPr anchor="b"/>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3588462" y="1085850"/>
            <a:ext cx="3896998" cy="3429000"/>
          </a:xfrm>
        </p:spPr>
        <p:txBody>
          <a:bodyPr anchor="ctr">
            <a:normAutofit/>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216" y="2346961"/>
            <a:ext cx="2550797" cy="2171699"/>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2516600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430" y="1390644"/>
            <a:ext cx="3819680" cy="1181106"/>
          </a:xfrm>
        </p:spPr>
        <p:txBody>
          <a:bodyPr anchor="b">
            <a:normAutofit/>
          </a:bodyPr>
          <a:lstStyle>
            <a:lvl1pPr algn="l">
              <a:defRPr sz="27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2160" y="857250"/>
            <a:ext cx="2400300"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6" y="2743200"/>
            <a:ext cx="3813734" cy="1028700"/>
          </a:xfrm>
        </p:spPr>
        <p:txBody>
          <a:bodyPr>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1387702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7" y="3600440"/>
            <a:ext cx="6619243"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216" y="514350"/>
            <a:ext cx="6619244" cy="27305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866217" y="4025494"/>
            <a:ext cx="6619242" cy="370284"/>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7106256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216" y="1085850"/>
            <a:ext cx="6619244" cy="1485900"/>
          </a:xfrm>
        </p:spPr>
        <p:txBody>
          <a:bodyPr/>
          <a:lstStyle>
            <a:lvl1pPr>
              <a:defRPr sz="3600"/>
            </a:lvl1pPr>
          </a:lstStyle>
          <a:p>
            <a:r>
              <a:rPr lang="en-US"/>
              <a:t>Click to edit Master title style</a:t>
            </a:r>
            <a:endParaRPr lang="en-US" dirty="0"/>
          </a:p>
        </p:txBody>
      </p:sp>
      <p:sp>
        <p:nvSpPr>
          <p:cNvPr id="8" name="Text Placeholder 3"/>
          <p:cNvSpPr>
            <a:spLocks noGrp="1"/>
          </p:cNvSpPr>
          <p:nvPr>
            <p:ph type="body" sz="half" idx="2"/>
          </p:nvPr>
        </p:nvSpPr>
        <p:spPr>
          <a:xfrm>
            <a:off x="866216" y="2743200"/>
            <a:ext cx="6619244" cy="177165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4604221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101" y="1085850"/>
            <a:ext cx="5999486" cy="1742531"/>
          </a:xfrm>
        </p:spPr>
        <p:txBody>
          <a:bodyPr/>
          <a:lstStyle>
            <a:lvl1pPr>
              <a:defRPr sz="3600"/>
            </a:lvl1pPr>
          </a:lstStyle>
          <a:p>
            <a:r>
              <a:rPr lang="en-US"/>
              <a:t>Click to edit Master title style</a:t>
            </a:r>
            <a:endParaRPr lang="en-US" dirty="0"/>
          </a:p>
        </p:txBody>
      </p:sp>
      <p:sp>
        <p:nvSpPr>
          <p:cNvPr id="14" name="Text Placeholder 3"/>
          <p:cNvSpPr>
            <a:spLocks noGrp="1"/>
          </p:cNvSpPr>
          <p:nvPr>
            <p:ph type="body" sz="half" idx="13"/>
          </p:nvPr>
        </p:nvSpPr>
        <p:spPr>
          <a:xfrm>
            <a:off x="1447800" y="2828380"/>
            <a:ext cx="5459737" cy="256631"/>
          </a:xfrm>
        </p:spPr>
        <p:txBody>
          <a:bodyPr anchor="t">
            <a:normAutofit/>
          </a:bodyPr>
          <a:lstStyle>
            <a:lvl1pPr marL="0" indent="0">
              <a:buNone/>
              <a:defRPr lang="en-US" sz="1050" b="0" i="0" kern="1200" cap="small" dirty="0">
                <a:solidFill>
                  <a:schemeClr val="accent1"/>
                </a:solidFill>
                <a:latin typeface="+mj-lt"/>
                <a:ea typeface="+mj-ea"/>
                <a:cs typeface="+mj-cs"/>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3"/>
          <p:cNvSpPr>
            <a:spLocks noGrp="1"/>
          </p:cNvSpPr>
          <p:nvPr>
            <p:ph type="body" sz="half" idx="2"/>
          </p:nvPr>
        </p:nvSpPr>
        <p:spPr>
          <a:xfrm>
            <a:off x="866216" y="3262993"/>
            <a:ext cx="6619244" cy="1257300"/>
          </a:xfrm>
        </p:spPr>
        <p:txBody>
          <a:bodyPr anchor="ctr">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9" name="TextBox 8"/>
          <p:cNvSpPr txBox="1"/>
          <p:nvPr/>
        </p:nvSpPr>
        <p:spPr>
          <a:xfrm>
            <a:off x="673721" y="728440"/>
            <a:ext cx="601434" cy="1500411"/>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9150" dirty="0"/>
              <a:t>“</a:t>
            </a:r>
          </a:p>
        </p:txBody>
      </p:sp>
      <p:sp>
        <p:nvSpPr>
          <p:cNvPr id="13" name="TextBox 12"/>
          <p:cNvSpPr txBox="1"/>
          <p:nvPr/>
        </p:nvSpPr>
        <p:spPr>
          <a:xfrm>
            <a:off x="6997868" y="1960341"/>
            <a:ext cx="601434" cy="1500411"/>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9150" dirty="0"/>
              <a:t>”</a:t>
            </a:r>
          </a:p>
        </p:txBody>
      </p:sp>
    </p:spTree>
    <p:extLst>
      <p:ext uri="{BB962C8B-B14F-4D97-AF65-F5344CB8AC3E}">
        <p14:creationId xmlns:p14="http://schemas.microsoft.com/office/powerpoint/2010/main" val="303096058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216" y="2343151"/>
            <a:ext cx="6619245" cy="1239885"/>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866216" y="3583036"/>
            <a:ext cx="6619244" cy="645300"/>
          </a:xfrm>
        </p:spPr>
        <p:txBody>
          <a:bodyPr anchor="t"/>
          <a:lstStyle>
            <a:lvl1pPr marL="0" indent="0" algn="l">
              <a:buNone/>
              <a:defRPr sz="1500" cap="none">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3937824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74710" y="1485900"/>
            <a:ext cx="2210150"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6" name="Text Placeholder 3"/>
          <p:cNvSpPr>
            <a:spLocks noGrp="1"/>
          </p:cNvSpPr>
          <p:nvPr>
            <p:ph type="body" sz="half" idx="15"/>
          </p:nvPr>
        </p:nvSpPr>
        <p:spPr>
          <a:xfrm>
            <a:off x="489347" y="2000250"/>
            <a:ext cx="2195513"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2745" y="1485900"/>
            <a:ext cx="2202181"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9" name="Text Placeholder 3"/>
          <p:cNvSpPr>
            <a:spLocks noGrp="1"/>
          </p:cNvSpPr>
          <p:nvPr>
            <p:ph type="body" sz="half" idx="16"/>
          </p:nvPr>
        </p:nvSpPr>
        <p:spPr>
          <a:xfrm>
            <a:off x="2904829" y="2000250"/>
            <a:ext cx="2210096"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1485900"/>
            <a:ext cx="2199085"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Text Placeholder 3"/>
          <p:cNvSpPr>
            <a:spLocks noGrp="1"/>
          </p:cNvSpPr>
          <p:nvPr>
            <p:ph type="body" sz="half" idx="17"/>
          </p:nvPr>
        </p:nvSpPr>
        <p:spPr>
          <a:xfrm>
            <a:off x="5343525" y="2000250"/>
            <a:ext cx="2199085" cy="269200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9706406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150"/>
            </a:lvl1pPr>
          </a:lstStyle>
          <a:p>
            <a:r>
              <a:rPr lang="en-US"/>
              <a:t>Click to edit Master title style</a:t>
            </a:r>
            <a:endParaRPr lang="en-US" dirty="0"/>
          </a:p>
        </p:txBody>
      </p:sp>
      <p:sp>
        <p:nvSpPr>
          <p:cNvPr id="3" name="Text Placeholder 2"/>
          <p:cNvSpPr>
            <a:spLocks noGrp="1"/>
          </p:cNvSpPr>
          <p:nvPr>
            <p:ph type="body" idx="1"/>
          </p:nvPr>
        </p:nvSpPr>
        <p:spPr>
          <a:xfrm>
            <a:off x="489347" y="3188212"/>
            <a:ext cx="2205038"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9" name="Picture Placeholder 2"/>
          <p:cNvSpPr>
            <a:spLocks noGrp="1" noChangeAspect="1"/>
          </p:cNvSpPr>
          <p:nvPr>
            <p:ph type="pic" idx="15"/>
          </p:nvPr>
        </p:nvSpPr>
        <p:spPr>
          <a:xfrm>
            <a:off x="489347" y="1657350"/>
            <a:ext cx="2205038"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2" name="Text Placeholder 3"/>
          <p:cNvSpPr>
            <a:spLocks noGrp="1"/>
          </p:cNvSpPr>
          <p:nvPr>
            <p:ph type="body" sz="half" idx="18"/>
          </p:nvPr>
        </p:nvSpPr>
        <p:spPr>
          <a:xfrm>
            <a:off x="489347" y="3620409"/>
            <a:ext cx="220503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Text Placeholder 4"/>
          <p:cNvSpPr>
            <a:spLocks noGrp="1"/>
          </p:cNvSpPr>
          <p:nvPr>
            <p:ph type="body" sz="quarter" idx="3"/>
          </p:nvPr>
        </p:nvSpPr>
        <p:spPr>
          <a:xfrm>
            <a:off x="2917032" y="3188212"/>
            <a:ext cx="2197894"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0" name="Picture Placeholder 2"/>
          <p:cNvSpPr>
            <a:spLocks noGrp="1" noChangeAspect="1"/>
          </p:cNvSpPr>
          <p:nvPr>
            <p:ph type="pic" idx="21"/>
          </p:nvPr>
        </p:nvSpPr>
        <p:spPr>
          <a:xfrm>
            <a:off x="2917031" y="1657350"/>
            <a:ext cx="2197894"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3" name="Text Placeholder 3"/>
          <p:cNvSpPr>
            <a:spLocks noGrp="1"/>
          </p:cNvSpPr>
          <p:nvPr>
            <p:ph type="body" sz="half" idx="19"/>
          </p:nvPr>
        </p:nvSpPr>
        <p:spPr>
          <a:xfrm>
            <a:off x="2916016" y="3620408"/>
            <a:ext cx="2200805"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4" name="Text Placeholder 4"/>
          <p:cNvSpPr>
            <a:spLocks noGrp="1"/>
          </p:cNvSpPr>
          <p:nvPr>
            <p:ph type="body" sz="quarter" idx="13"/>
          </p:nvPr>
        </p:nvSpPr>
        <p:spPr>
          <a:xfrm>
            <a:off x="5343525" y="3188212"/>
            <a:ext cx="2199085" cy="432197"/>
          </a:xfrm>
        </p:spPr>
        <p:txBody>
          <a:bodyPr anchor="b">
            <a:noAutofit/>
          </a:bodyPr>
          <a:lstStyle>
            <a:lvl1pPr marL="0" indent="0">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31" name="Picture Placeholder 2"/>
          <p:cNvSpPr>
            <a:spLocks noGrp="1" noChangeAspect="1"/>
          </p:cNvSpPr>
          <p:nvPr>
            <p:ph type="pic" idx="22"/>
          </p:nvPr>
        </p:nvSpPr>
        <p:spPr>
          <a:xfrm>
            <a:off x="5343525" y="1657350"/>
            <a:ext cx="2199085" cy="1143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20"/>
          </p:nvPr>
        </p:nvSpPr>
        <p:spPr>
          <a:xfrm>
            <a:off x="5343432" y="3620406"/>
            <a:ext cx="2201998" cy="49439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7" name="Straight Connector 16"/>
          <p:cNvCxnSpPr/>
          <p:nvPr/>
        </p:nvCxnSpPr>
        <p:spPr>
          <a:xfrm>
            <a:off x="2794607" y="1600200"/>
            <a:ext cx="0" cy="29718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1670" y="1600200"/>
            <a:ext cx="0" cy="297516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2053615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7552762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8159" y="322660"/>
            <a:ext cx="1314451" cy="4369594"/>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348" y="665561"/>
            <a:ext cx="5567362" cy="40266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7/25/2026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22175253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2001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002264"/>
            <a:ext cx="3027759" cy="3141236"/>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169261"/>
            <a:ext cx="1141809" cy="1774090"/>
          </a:xfrm>
          <a:prstGeom prst="rect">
            <a:avLst/>
          </a:prstGeom>
        </p:spPr>
      </p:pic>
      <p:sp>
        <p:nvSpPr>
          <p:cNvPr id="16" name="Oval 15"/>
          <p:cNvSpPr/>
          <p:nvPr/>
        </p:nvSpPr>
        <p:spPr>
          <a:xfrm>
            <a:off x="6456759" y="1257300"/>
            <a:ext cx="2114550" cy="211455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5999560" y="1"/>
            <a:ext cx="1202540" cy="856055"/>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6456759" y="4572000"/>
            <a:ext cx="745301" cy="571500"/>
          </a:xfrm>
          <a:prstGeom prst="rect">
            <a:avLst/>
          </a:prstGeom>
        </p:spPr>
      </p:pic>
      <p:sp>
        <p:nvSpPr>
          <p:cNvPr id="14" name="Rectangle 13"/>
          <p:cNvSpPr/>
          <p:nvPr/>
        </p:nvSpPr>
        <p:spPr>
          <a:xfrm>
            <a:off x="7828359" y="0"/>
            <a:ext cx="514350" cy="85725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484584" y="339538"/>
            <a:ext cx="7053542" cy="105039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484" y="1539689"/>
            <a:ext cx="6709906" cy="31466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616730" y="1343026"/>
            <a:ext cx="742949" cy="228599"/>
          </a:xfrm>
          <a:prstGeom prst="rect">
            <a:avLst/>
          </a:prstGeom>
        </p:spPr>
        <p:txBody>
          <a:bodyPr vert="horz" lIns="91440" tIns="45720" rIns="91440" bIns="45720" rtlCol="0" anchor="t"/>
          <a:lstStyle>
            <a:lvl1pPr algn="l">
              <a:defRPr sz="825" b="0" i="0">
                <a:solidFill>
                  <a:schemeClr val="tx1">
                    <a:tint val="75000"/>
                    <a:alpha val="60000"/>
                  </a:schemeClr>
                </a:solidFill>
              </a:defRPr>
            </a:lvl1pPr>
          </a:lstStyle>
          <a:p>
            <a:fld id="{4AAD347D-5ACD-4C99-B74B-A9C85AD731AF}" type="datetimeFigureOut">
              <a:rPr lang="en-US" smtClean="0"/>
              <a:t>7/25/2026</a:t>
            </a:fld>
            <a:endParaRPr lang="en-US" dirty="0"/>
          </a:p>
        </p:txBody>
      </p:sp>
      <p:sp>
        <p:nvSpPr>
          <p:cNvPr id="5" name="Footer Placeholder 4"/>
          <p:cNvSpPr>
            <a:spLocks noGrp="1"/>
          </p:cNvSpPr>
          <p:nvPr>
            <p:ph type="ftr" sz="quarter" idx="3"/>
          </p:nvPr>
        </p:nvSpPr>
        <p:spPr>
          <a:xfrm rot="5400000">
            <a:off x="6713680" y="2418973"/>
            <a:ext cx="2894846" cy="228601"/>
          </a:xfrm>
          <a:prstGeom prst="rect">
            <a:avLst/>
          </a:prstGeom>
        </p:spPr>
        <p:txBody>
          <a:bodyPr vert="horz" lIns="91440" tIns="45720" rIns="91440" bIns="45720" rtlCol="0" anchor="b"/>
          <a:lstStyle>
            <a:lvl1pPr algn="l">
              <a:defRPr sz="825"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7764406" y="221797"/>
            <a:ext cx="628649" cy="575765"/>
          </a:xfrm>
          <a:prstGeom prst="rect">
            <a:avLst/>
          </a:prstGeom>
        </p:spPr>
        <p:txBody>
          <a:bodyPr vert="horz" lIns="91440" tIns="45720" rIns="91440" bIns="45720" rtlCol="0" anchor="b"/>
          <a:lstStyle>
            <a:lvl1pPr algn="ctr">
              <a:defRPr sz="2100" b="0" i="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1485025716"/>
      </p:ext>
    </p:extLst>
  </p:cSld>
  <p:clrMap bg1="dk1" tx1="lt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 id="2147483688" r:id="rId18"/>
  </p:sldLayoutIdLst>
  <p:hf sldNum="0" hdr="0" ftr="0" dt="0"/>
  <p:txStyles>
    <p:titleStyle>
      <a:lvl1pPr algn="l" defTabSz="342900" rtl="0" eaLnBrk="1" latinLnBrk="0" hangingPunct="1">
        <a:spcBef>
          <a:spcPct val="0"/>
        </a:spcBef>
        <a:buNone/>
        <a:defRPr sz="315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500" b="0" i="0" kern="1200">
          <a:solidFill>
            <a:schemeClr val="tx1"/>
          </a:solidFill>
          <a:latin typeface="+mj-lt"/>
          <a:ea typeface="+mj-ea"/>
          <a:cs typeface="+mj-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50" b="0" i="0" kern="1200">
          <a:solidFill>
            <a:schemeClr val="tx1"/>
          </a:solidFill>
          <a:latin typeface="+mj-lt"/>
          <a:ea typeface="+mj-ea"/>
          <a:cs typeface="+mj-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200" b="0" i="0" kern="1200">
          <a:solidFill>
            <a:schemeClr val="tx1"/>
          </a:solidFill>
          <a:latin typeface="+mj-lt"/>
          <a:ea typeface="+mj-ea"/>
          <a:cs typeface="+mj-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1050" b="0" i="0" kern="1200">
          <a:solidFill>
            <a:schemeClr val="tx1"/>
          </a:solidFill>
          <a:latin typeface="+mj-lt"/>
          <a:ea typeface="+mj-ea"/>
          <a:cs typeface="+mj-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3.jpe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7.jpeg"/><Relationship Id="rId5" Type="http://schemas.openxmlformats.org/officeDocument/2006/relationships/image" Target="../media/image16.sv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1530623"/>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Bank Marketing &amp; Customer Behavior</a:t>
            </a:r>
            <a:endParaRPr lang="en-US" sz="2750" dirty="0"/>
          </a:p>
        </p:txBody>
      </p:sp>
      <p:sp>
        <p:nvSpPr>
          <p:cNvPr id="3" name="Text 1"/>
          <p:cNvSpPr/>
          <p:nvPr/>
        </p:nvSpPr>
        <p:spPr>
          <a:xfrm>
            <a:off x="496119" y="2030313"/>
            <a:ext cx="8151763"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oboto Medium" pitchFamily="34" charset="0"/>
                <a:ea typeface="Roboto Medium" pitchFamily="34" charset="-122"/>
                <a:cs typeface="Roboto Medium" pitchFamily="34" charset="-120"/>
              </a:rPr>
              <a:t>Predicting Term Deposit Subscriptions</a:t>
            </a:r>
            <a:endParaRPr lang="en-US" sz="1350" dirty="0"/>
          </a:p>
        </p:txBody>
      </p:sp>
      <p:sp>
        <p:nvSpPr>
          <p:cNvPr id="4" name="Text 2"/>
          <p:cNvSpPr/>
          <p:nvPr/>
        </p:nvSpPr>
        <p:spPr>
          <a:xfrm>
            <a:off x="496119" y="2464371"/>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NTI • Data Analytics Final Project</a:t>
            </a:r>
            <a:endParaRPr lang="en-US" sz="1100" dirty="0"/>
          </a:p>
        </p:txBody>
      </p:sp>
      <p:pic>
        <p:nvPicPr>
          <p:cNvPr id="5" name="Image 0" descr="preencoded.png"/>
          <p:cNvPicPr>
            <a:picLocks noChangeAspect="1"/>
          </p:cNvPicPr>
          <p:nvPr/>
        </p:nvPicPr>
        <p:blipFill>
          <a:blip r:embed="rId3"/>
          <a:stretch>
            <a:fillRect/>
          </a:stretch>
        </p:blipFill>
        <p:spPr>
          <a:xfrm>
            <a:off x="496119" y="2850654"/>
            <a:ext cx="1233339" cy="762223"/>
          </a:xfrm>
          <a:prstGeom prst="rect">
            <a:avLst/>
          </a:prstGeom>
        </p:spPr>
      </p:pic>
      <p:sp>
        <p:nvSpPr>
          <p:cNvPr id="6" name="Text 3"/>
          <p:cNvSpPr/>
          <p:nvPr/>
        </p:nvSpPr>
        <p:spPr>
          <a:xfrm>
            <a:off x="1906637" y="2850654"/>
            <a:ext cx="6741244"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Team</a:t>
            </a:r>
            <a:endParaRPr lang="en-US" sz="1350" dirty="0"/>
          </a:p>
        </p:txBody>
      </p:sp>
      <p:sp>
        <p:nvSpPr>
          <p:cNvPr id="7" name="Text 4"/>
          <p:cNvSpPr/>
          <p:nvPr/>
        </p:nvSpPr>
        <p:spPr>
          <a:xfrm>
            <a:off x="1906637" y="3157165"/>
            <a:ext cx="6741244" cy="226814"/>
          </a:xfrm>
          <a:prstGeom prst="rect">
            <a:avLst/>
          </a:prstGeom>
          <a:noFill/>
          <a:ln/>
        </p:spPr>
        <p:txBody>
          <a:bodyPr wrap="none" lIns="0" tIns="0" rIns="0" bIns="0" rtlCol="0" anchor="t"/>
          <a:lstStyle/>
          <a:p>
            <a:pPr>
              <a:lnSpc>
                <a:spcPct val="133000"/>
              </a:lnSpc>
            </a:pPr>
            <a:r>
              <a:rPr lang="en-US" sz="1100" dirty="0">
                <a:solidFill>
                  <a:srgbClr val="CFD0D8"/>
                </a:solidFill>
                <a:latin typeface="Roboto" pitchFamily="34" charset="0"/>
                <a:ea typeface="Roboto" pitchFamily="34" charset="-122"/>
                <a:cs typeface="Roboto" pitchFamily="34" charset="-120"/>
              </a:rPr>
              <a:t>Halla Ehab • Amr Faisal • Manar Desouki• Tarek Ahmed • Shaimaa Ashraf</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98115"/>
            <a:ext cx="8151763" cy="415305"/>
          </a:xfrm>
          <a:prstGeom prst="rect">
            <a:avLst/>
          </a:prstGeom>
          <a:noFill/>
          <a:ln/>
        </p:spPr>
        <p:txBody>
          <a:bodyPr wrap="none" lIns="0" tIns="0" rIns="0" bIns="0" rtlCol="0" anchor="t"/>
          <a:lstStyle/>
          <a:p>
            <a:pPr marL="0" indent="0" algn="l">
              <a:lnSpc>
                <a:spcPct val="104000"/>
              </a:lnSpc>
              <a:buNone/>
            </a:pPr>
            <a:r>
              <a:rPr lang="en-US" sz="2600" dirty="0">
                <a:solidFill>
                  <a:srgbClr val="FFFFFF"/>
                </a:solidFill>
                <a:latin typeface="Roboto Medium" pitchFamily="34" charset="0"/>
                <a:ea typeface="Roboto Medium" pitchFamily="34" charset="-122"/>
                <a:cs typeface="Roboto Medium" pitchFamily="34" charset="-120"/>
              </a:rPr>
              <a:t>Project Overview</a:t>
            </a:r>
            <a:endParaRPr lang="en-US" sz="2600" dirty="0"/>
          </a:p>
        </p:txBody>
      </p:sp>
      <p:sp>
        <p:nvSpPr>
          <p:cNvPr id="3" name="Text 1"/>
          <p:cNvSpPr/>
          <p:nvPr/>
        </p:nvSpPr>
        <p:spPr>
          <a:xfrm>
            <a:off x="496119" y="2153692"/>
            <a:ext cx="3913808" cy="207690"/>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Roboto Medium" pitchFamily="34" charset="0"/>
                <a:ea typeface="Roboto Medium" pitchFamily="34" charset="-122"/>
                <a:cs typeface="Roboto Medium" pitchFamily="34" charset="-120"/>
              </a:rPr>
              <a:t>Objective</a:t>
            </a:r>
            <a:endParaRPr lang="en-US" sz="1300" dirty="0"/>
          </a:p>
        </p:txBody>
      </p:sp>
      <p:sp>
        <p:nvSpPr>
          <p:cNvPr id="4" name="Text 2"/>
          <p:cNvSpPr/>
          <p:nvPr/>
        </p:nvSpPr>
        <p:spPr>
          <a:xfrm>
            <a:off x="496119" y="2485951"/>
            <a:ext cx="3913808" cy="455563"/>
          </a:xfrm>
          <a:prstGeom prst="rect">
            <a:avLst/>
          </a:prstGeom>
          <a:noFill/>
          <a:ln/>
        </p:spPr>
        <p:txBody>
          <a:bodyPr wrap="square" lIns="0" tIns="0" rIns="0" bIns="0" rtlCol="0" anchor="t">
            <a:normAutofit/>
          </a:bodyPr>
          <a:lstStyle/>
          <a:p>
            <a:pPr marL="203200" indent="-203200" algn="l">
              <a:lnSpc>
                <a:spcPct val="129000"/>
              </a:lnSpc>
              <a:buSzPct val="100000"/>
              <a:buChar char="•"/>
            </a:pPr>
            <a:r>
              <a:rPr lang="en-US" sz="1000" dirty="0">
                <a:solidFill>
                  <a:srgbClr val="CFD0D8"/>
                </a:solidFill>
                <a:latin typeface="Roboto" pitchFamily="34" charset="0"/>
                <a:ea typeface="Roboto" pitchFamily="34" charset="-122"/>
                <a:cs typeface="Roboto" pitchFamily="34" charset="-120"/>
              </a:rPr>
              <a:t>Predict customer subscription to term deposits</a:t>
            </a:r>
            <a:endParaRPr lang="en-US" sz="1000" dirty="0"/>
          </a:p>
          <a:p>
            <a:pPr marL="203200" indent="-203200" algn="l">
              <a:lnSpc>
                <a:spcPct val="129000"/>
              </a:lnSpc>
              <a:buSzPct val="100000"/>
              <a:buChar char="•"/>
            </a:pPr>
            <a:r>
              <a:rPr lang="en-US" sz="1000" dirty="0">
                <a:solidFill>
                  <a:srgbClr val="CFD0D8"/>
                </a:solidFill>
                <a:latin typeface="Roboto" pitchFamily="34" charset="0"/>
                <a:ea typeface="Roboto" pitchFamily="34" charset="-122"/>
                <a:cs typeface="Roboto" pitchFamily="34" charset="-120"/>
              </a:rPr>
              <a:t>Improve campaign targeting and ROI</a:t>
            </a:r>
            <a:endParaRPr lang="en-US" sz="1000" dirty="0"/>
          </a:p>
        </p:txBody>
      </p:sp>
      <p:sp>
        <p:nvSpPr>
          <p:cNvPr id="5" name="Text 3"/>
          <p:cNvSpPr/>
          <p:nvPr/>
        </p:nvSpPr>
        <p:spPr>
          <a:xfrm>
            <a:off x="496119" y="3066083"/>
            <a:ext cx="3913808" cy="207690"/>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Roboto Medium" pitchFamily="34" charset="0"/>
                <a:ea typeface="Roboto Medium" pitchFamily="34" charset="-122"/>
                <a:cs typeface="Roboto Medium" pitchFamily="34" charset="-120"/>
              </a:rPr>
              <a:t>Business Problem</a:t>
            </a:r>
            <a:endParaRPr lang="en-US" sz="1300" dirty="0"/>
          </a:p>
        </p:txBody>
      </p:sp>
      <p:sp>
        <p:nvSpPr>
          <p:cNvPr id="6" name="Text 4"/>
          <p:cNvSpPr/>
          <p:nvPr/>
        </p:nvSpPr>
        <p:spPr>
          <a:xfrm>
            <a:off x="496119" y="3398341"/>
            <a:ext cx="4371008" cy="205978"/>
          </a:xfrm>
          <a:prstGeom prst="rect">
            <a:avLst/>
          </a:prstGeom>
          <a:noFill/>
          <a:ln/>
        </p:spPr>
        <p:txBody>
          <a:bodyPr wrap="none" lIns="0" tIns="0" rIns="0" bIns="0" rtlCol="0" anchor="t"/>
          <a:lstStyle/>
          <a:p>
            <a:pPr marL="0" indent="0" algn="l">
              <a:lnSpc>
                <a:spcPct val="129000"/>
              </a:lnSpc>
              <a:buNone/>
            </a:pPr>
            <a:r>
              <a:rPr lang="en-US" sz="1000" dirty="0">
                <a:solidFill>
                  <a:srgbClr val="CFD0D8"/>
                </a:solidFill>
                <a:latin typeface="Roboto" pitchFamily="34" charset="0"/>
                <a:ea typeface="Roboto" pitchFamily="34" charset="-122"/>
                <a:cs typeface="Roboto" pitchFamily="34" charset="-120"/>
              </a:rPr>
              <a:t>Low conversion rates; high marketing cost per acquisition</a:t>
            </a:r>
            <a:endParaRPr lang="en-US" sz="1000" dirty="0"/>
          </a:p>
        </p:txBody>
      </p:sp>
      <p:pic>
        <p:nvPicPr>
          <p:cNvPr id="7" name="Image 0" descr="preencoded.png"/>
          <p:cNvPicPr>
            <a:picLocks noChangeAspect="1"/>
          </p:cNvPicPr>
          <p:nvPr/>
        </p:nvPicPr>
        <p:blipFill>
          <a:blip r:embed="rId3"/>
          <a:stretch>
            <a:fillRect/>
          </a:stretch>
        </p:blipFill>
        <p:spPr>
          <a:xfrm>
            <a:off x="4738836" y="1140396"/>
            <a:ext cx="3913808" cy="2608511"/>
          </a:xfrm>
          <a:prstGeom prst="rect">
            <a:avLst/>
          </a:prstGeom>
        </p:spPr>
      </p:pic>
      <p:sp>
        <p:nvSpPr>
          <p:cNvPr id="8" name="Text 5"/>
          <p:cNvSpPr/>
          <p:nvPr/>
        </p:nvSpPr>
        <p:spPr>
          <a:xfrm>
            <a:off x="4738836" y="3889028"/>
            <a:ext cx="3913808" cy="207690"/>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Roboto Medium" pitchFamily="34" charset="0"/>
                <a:ea typeface="Roboto Medium" pitchFamily="34" charset="-122"/>
                <a:cs typeface="Roboto Medium" pitchFamily="34" charset="-120"/>
              </a:rPr>
              <a:t>Dataset</a:t>
            </a:r>
            <a:endParaRPr lang="en-US" sz="1300" dirty="0"/>
          </a:p>
        </p:txBody>
      </p:sp>
      <p:sp>
        <p:nvSpPr>
          <p:cNvPr id="9" name="Text 6"/>
          <p:cNvSpPr/>
          <p:nvPr/>
        </p:nvSpPr>
        <p:spPr>
          <a:xfrm>
            <a:off x="4738836" y="4221287"/>
            <a:ext cx="3913808"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CFD0D8"/>
                </a:solidFill>
                <a:latin typeface="Roboto" pitchFamily="34" charset="0"/>
                <a:ea typeface="Roboto" pitchFamily="34" charset="-122"/>
                <a:cs typeface="Roboto" pitchFamily="34" charset="-120"/>
              </a:rPr>
              <a:t>Direct-marketing campaigns (bank) — demographic, behavioral, campaign features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089199"/>
            <a:ext cx="4722763"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Data Preparation</a:t>
            </a:r>
            <a:endParaRPr lang="en-US" sz="27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25119" y="1762497"/>
            <a:ext cx="141759" cy="141759"/>
          </a:xfrm>
          <a:prstGeom prst="rect">
            <a:avLst/>
          </a:prstGeom>
        </p:spPr>
      </p:pic>
      <p:sp>
        <p:nvSpPr>
          <p:cNvPr id="5" name="Shape 1"/>
          <p:cNvSpPr/>
          <p:nvPr/>
        </p:nvSpPr>
        <p:spPr>
          <a:xfrm>
            <a:off x="3925119" y="1966689"/>
            <a:ext cx="2290465" cy="19050"/>
          </a:xfrm>
          <a:prstGeom prst="rect">
            <a:avLst/>
          </a:prstGeom>
          <a:solidFill>
            <a:srgbClr val="5A6ED8"/>
          </a:solidFill>
          <a:ln/>
        </p:spPr>
        <p:txBody>
          <a:bodyPr/>
          <a:lstStyle/>
          <a:p>
            <a:endParaRPr lang="en-US"/>
          </a:p>
        </p:txBody>
      </p:sp>
      <p:sp>
        <p:nvSpPr>
          <p:cNvPr id="6" name="Text 2"/>
          <p:cNvSpPr/>
          <p:nvPr/>
        </p:nvSpPr>
        <p:spPr>
          <a:xfrm>
            <a:off x="3925119" y="2075631"/>
            <a:ext cx="2290465"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Data Cleaning</a:t>
            </a:r>
            <a:endParaRPr lang="en-US" sz="1350" dirty="0"/>
          </a:p>
        </p:txBody>
      </p:sp>
      <p:sp>
        <p:nvSpPr>
          <p:cNvPr id="7" name="Text 3"/>
          <p:cNvSpPr/>
          <p:nvPr/>
        </p:nvSpPr>
        <p:spPr>
          <a:xfrm>
            <a:off x="3925119" y="2382143"/>
            <a:ext cx="229046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Missing values, outliers, inconsistent categories</a:t>
            </a:r>
            <a:endParaRPr lang="en-US" sz="11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57342" y="1762497"/>
            <a:ext cx="141759" cy="141759"/>
          </a:xfrm>
          <a:prstGeom prst="rect">
            <a:avLst/>
          </a:prstGeom>
        </p:spPr>
      </p:pic>
      <p:sp>
        <p:nvSpPr>
          <p:cNvPr id="9" name="Shape 4"/>
          <p:cNvSpPr/>
          <p:nvPr/>
        </p:nvSpPr>
        <p:spPr>
          <a:xfrm>
            <a:off x="6357342" y="1966689"/>
            <a:ext cx="2290539" cy="19050"/>
          </a:xfrm>
          <a:prstGeom prst="rect">
            <a:avLst/>
          </a:prstGeom>
          <a:solidFill>
            <a:srgbClr val="5A6ED8"/>
          </a:solidFill>
          <a:ln/>
        </p:spPr>
        <p:txBody>
          <a:bodyPr/>
          <a:lstStyle/>
          <a:p>
            <a:endParaRPr lang="en-US"/>
          </a:p>
        </p:txBody>
      </p:sp>
      <p:sp>
        <p:nvSpPr>
          <p:cNvPr id="10" name="Text 5"/>
          <p:cNvSpPr/>
          <p:nvPr/>
        </p:nvSpPr>
        <p:spPr>
          <a:xfrm>
            <a:off x="6357342" y="2075631"/>
            <a:ext cx="2290539"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Preprocessing</a:t>
            </a:r>
            <a:endParaRPr lang="en-US" sz="1350" dirty="0"/>
          </a:p>
        </p:txBody>
      </p:sp>
      <p:sp>
        <p:nvSpPr>
          <p:cNvPr id="11" name="Text 6"/>
          <p:cNvSpPr/>
          <p:nvPr/>
        </p:nvSpPr>
        <p:spPr>
          <a:xfrm>
            <a:off x="6357342" y="2382143"/>
            <a:ext cx="2290539"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Encoding, scaling, date parsing</a:t>
            </a:r>
            <a:endParaRPr lang="en-US" sz="11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25119" y="3101504"/>
            <a:ext cx="141759" cy="141759"/>
          </a:xfrm>
          <a:prstGeom prst="rect">
            <a:avLst/>
          </a:prstGeom>
        </p:spPr>
      </p:pic>
      <p:sp>
        <p:nvSpPr>
          <p:cNvPr id="13" name="Shape 7"/>
          <p:cNvSpPr/>
          <p:nvPr/>
        </p:nvSpPr>
        <p:spPr>
          <a:xfrm>
            <a:off x="3925119" y="3305696"/>
            <a:ext cx="4722763" cy="19050"/>
          </a:xfrm>
          <a:prstGeom prst="rect">
            <a:avLst/>
          </a:prstGeom>
          <a:solidFill>
            <a:srgbClr val="5A6ED8"/>
          </a:solidFill>
          <a:ln/>
        </p:spPr>
        <p:txBody>
          <a:bodyPr/>
          <a:lstStyle/>
          <a:p>
            <a:endParaRPr lang="en-US"/>
          </a:p>
        </p:txBody>
      </p:sp>
      <p:sp>
        <p:nvSpPr>
          <p:cNvPr id="14" name="Text 8"/>
          <p:cNvSpPr/>
          <p:nvPr/>
        </p:nvSpPr>
        <p:spPr>
          <a:xfrm>
            <a:off x="3925119" y="3414638"/>
            <a:ext cx="4722763"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Feature Engineering</a:t>
            </a:r>
            <a:endParaRPr lang="en-US" sz="1350" dirty="0"/>
          </a:p>
        </p:txBody>
      </p:sp>
      <p:sp>
        <p:nvSpPr>
          <p:cNvPr id="15" name="Text 9"/>
          <p:cNvSpPr/>
          <p:nvPr/>
        </p:nvSpPr>
        <p:spPr>
          <a:xfrm>
            <a:off x="3925119" y="3721150"/>
            <a:ext cx="4722763"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Interaction terms, campaign recency, tenure buckets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065758"/>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Exploratory Data Analysis</a:t>
            </a:r>
            <a:endParaRPr lang="en-US" sz="2750" dirty="0"/>
          </a:p>
        </p:txBody>
      </p:sp>
      <p:sp>
        <p:nvSpPr>
          <p:cNvPr id="3" name="Text 1"/>
          <p:cNvSpPr/>
          <p:nvPr/>
        </p:nvSpPr>
        <p:spPr>
          <a:xfrm>
            <a:off x="496119" y="2042889"/>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FFFFFF"/>
                </a:solidFill>
                <a:latin typeface="Roboto Medium" pitchFamily="34" charset="0"/>
                <a:ea typeface="Roboto Medium" pitchFamily="34" charset="-122"/>
                <a:cs typeface="Roboto Medium" pitchFamily="34" charset="-120"/>
              </a:rPr>
              <a:t>Visuals (placeholders)</a:t>
            </a:r>
            <a:endParaRPr lang="en-US" sz="1350" dirty="0"/>
          </a:p>
        </p:txBody>
      </p:sp>
      <p:sp>
        <p:nvSpPr>
          <p:cNvPr id="4" name="Text 2"/>
          <p:cNvSpPr/>
          <p:nvPr/>
        </p:nvSpPr>
        <p:spPr>
          <a:xfrm>
            <a:off x="496119" y="2406104"/>
            <a:ext cx="3902943" cy="105593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CFD0D8"/>
                </a:solidFill>
                <a:latin typeface="Roboto" pitchFamily="34" charset="0"/>
                <a:ea typeface="Roboto" pitchFamily="34" charset="-122"/>
                <a:cs typeface="Roboto" pitchFamily="34" charset="-120"/>
              </a:rPr>
              <a:t>Target distribution — class imbalance</a:t>
            </a:r>
            <a:endParaRPr lang="en-US" sz="1100" dirty="0"/>
          </a:p>
          <a:p>
            <a:pPr marL="223520" indent="-223520" algn="l">
              <a:lnSpc>
                <a:spcPct val="133000"/>
              </a:lnSpc>
              <a:buSzPct val="100000"/>
              <a:buChar char="•"/>
            </a:pPr>
            <a:r>
              <a:rPr lang="en-US" sz="1100" dirty="0">
                <a:solidFill>
                  <a:srgbClr val="CFD0D8"/>
                </a:solidFill>
                <a:latin typeface="Roboto" pitchFamily="34" charset="0"/>
                <a:ea typeface="Roboto" pitchFamily="34" charset="-122"/>
                <a:cs typeface="Roboto" pitchFamily="34" charset="-120"/>
              </a:rPr>
              <a:t>Job — high/low conversion roles</a:t>
            </a:r>
            <a:endParaRPr lang="en-US" sz="1100" dirty="0"/>
          </a:p>
          <a:p>
            <a:pPr marL="223520" indent="-223520" algn="l">
              <a:lnSpc>
                <a:spcPct val="133000"/>
              </a:lnSpc>
              <a:buSzPct val="100000"/>
              <a:buChar char="•"/>
            </a:pPr>
            <a:r>
              <a:rPr lang="en-US" sz="1100" dirty="0">
                <a:solidFill>
                  <a:srgbClr val="CFD0D8"/>
                </a:solidFill>
                <a:latin typeface="Roboto" pitchFamily="34" charset="0"/>
                <a:ea typeface="Roboto" pitchFamily="34" charset="-122"/>
                <a:cs typeface="Roboto" pitchFamily="34" charset="-120"/>
              </a:rPr>
              <a:t>Education — correlation with uptake</a:t>
            </a:r>
            <a:endParaRPr lang="en-US" sz="1100" dirty="0"/>
          </a:p>
          <a:p>
            <a:pPr marL="223520" indent="-223520" algn="l">
              <a:lnSpc>
                <a:spcPct val="133000"/>
              </a:lnSpc>
              <a:buSzPct val="100000"/>
              <a:buChar char="•"/>
            </a:pPr>
            <a:r>
              <a:rPr lang="en-US" sz="1100" dirty="0">
                <a:solidFill>
                  <a:srgbClr val="CFD0D8"/>
                </a:solidFill>
                <a:latin typeface="Roboto" pitchFamily="34" charset="0"/>
                <a:ea typeface="Roboto" pitchFamily="34" charset="-122"/>
                <a:cs typeface="Roboto" pitchFamily="34" charset="-120"/>
              </a:rPr>
              <a:t>Correlation heatmap — feature relationships</a:t>
            </a:r>
            <a:endParaRPr lang="en-US" sz="1100" dirty="0"/>
          </a:p>
        </p:txBody>
      </p:sp>
      <p:pic>
        <p:nvPicPr>
          <p:cNvPr id="5" name="Image 0" descr="preencoded.png"/>
          <p:cNvPicPr>
            <a:picLocks noChangeAspect="1"/>
          </p:cNvPicPr>
          <p:nvPr/>
        </p:nvPicPr>
        <p:blipFill>
          <a:blip r:embed="rId3"/>
          <a:stretch>
            <a:fillRect/>
          </a:stretch>
        </p:blipFill>
        <p:spPr>
          <a:xfrm>
            <a:off x="4943252" y="1855812"/>
            <a:ext cx="1701180" cy="1701180"/>
          </a:xfrm>
          <a:prstGeom prst="rect">
            <a:avLst/>
          </a:prstGeom>
        </p:spPr>
      </p:pic>
      <p:pic>
        <p:nvPicPr>
          <p:cNvPr id="6" name="Image 1" descr="preencoded.png"/>
          <p:cNvPicPr>
            <a:picLocks noChangeAspect="1"/>
          </p:cNvPicPr>
          <p:nvPr/>
        </p:nvPicPr>
        <p:blipFill>
          <a:blip r:embed="rId4"/>
          <a:stretch>
            <a:fillRect/>
          </a:stretch>
        </p:blipFill>
        <p:spPr>
          <a:xfrm>
            <a:off x="6757839" y="1855812"/>
            <a:ext cx="1701180" cy="1701180"/>
          </a:xfrm>
          <a:prstGeom prst="rect">
            <a:avLst/>
          </a:prstGeom>
        </p:spPr>
      </p:pic>
      <p:sp>
        <p:nvSpPr>
          <p:cNvPr id="7" name="Text 3"/>
          <p:cNvSpPr/>
          <p:nvPr/>
        </p:nvSpPr>
        <p:spPr>
          <a:xfrm>
            <a:off x="496119" y="3850928"/>
            <a:ext cx="8608963"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Insights: target skewed toward No; job and campaign timing show strongest signals.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689074"/>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Machine Learning</a:t>
            </a:r>
            <a:endParaRPr lang="en-US" sz="27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504131"/>
            <a:ext cx="354360" cy="354360"/>
          </a:xfrm>
          <a:prstGeom prst="rect">
            <a:avLst/>
          </a:prstGeom>
        </p:spPr>
      </p:pic>
      <p:sp>
        <p:nvSpPr>
          <p:cNvPr id="4" name="Text 1"/>
          <p:cNvSpPr/>
          <p:nvPr/>
        </p:nvSpPr>
        <p:spPr>
          <a:xfrm>
            <a:off x="1027658" y="1504131"/>
            <a:ext cx="3371404"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Models Used</a:t>
            </a:r>
            <a:endParaRPr lang="en-US" sz="1350" dirty="0"/>
          </a:p>
        </p:txBody>
      </p:sp>
      <p:sp>
        <p:nvSpPr>
          <p:cNvPr id="5" name="Text 2"/>
          <p:cNvSpPr/>
          <p:nvPr/>
        </p:nvSpPr>
        <p:spPr>
          <a:xfrm>
            <a:off x="1027658" y="1867346"/>
            <a:ext cx="337140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Logistic Regression • Random Forest • XGBoost • LightGBM</a:t>
            </a:r>
            <a:endParaRPr lang="en-US" sz="11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604492"/>
            <a:ext cx="354360" cy="354360"/>
          </a:xfrm>
          <a:prstGeom prst="rect">
            <a:avLst/>
          </a:prstGeom>
        </p:spPr>
      </p:pic>
      <p:sp>
        <p:nvSpPr>
          <p:cNvPr id="7" name="Text 3"/>
          <p:cNvSpPr/>
          <p:nvPr/>
        </p:nvSpPr>
        <p:spPr>
          <a:xfrm>
            <a:off x="1027658" y="2604492"/>
            <a:ext cx="3371404"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Train / Test</a:t>
            </a:r>
            <a:endParaRPr lang="en-US" sz="1350" dirty="0"/>
          </a:p>
        </p:txBody>
      </p:sp>
      <p:sp>
        <p:nvSpPr>
          <p:cNvPr id="8" name="Text 4"/>
          <p:cNvSpPr/>
          <p:nvPr/>
        </p:nvSpPr>
        <p:spPr>
          <a:xfrm>
            <a:off x="1027658" y="2967707"/>
            <a:ext cx="337140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70/30 split • Stratified sampling • CV for hyperparameter tuning</a:t>
            </a:r>
            <a:endParaRPr lang="en-US" sz="11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3704853"/>
            <a:ext cx="354360" cy="354360"/>
          </a:xfrm>
          <a:prstGeom prst="rect">
            <a:avLst/>
          </a:prstGeom>
        </p:spPr>
      </p:pic>
      <p:sp>
        <p:nvSpPr>
          <p:cNvPr id="10" name="Text 5"/>
          <p:cNvSpPr/>
          <p:nvPr/>
        </p:nvSpPr>
        <p:spPr>
          <a:xfrm>
            <a:off x="1027658" y="3704853"/>
            <a:ext cx="3371404"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Metrics</a:t>
            </a:r>
            <a:endParaRPr lang="en-US" sz="1350" dirty="0"/>
          </a:p>
        </p:txBody>
      </p:sp>
      <p:sp>
        <p:nvSpPr>
          <p:cNvPr id="11" name="Text 6"/>
          <p:cNvSpPr/>
          <p:nvPr/>
        </p:nvSpPr>
        <p:spPr>
          <a:xfrm>
            <a:off x="1027658" y="4068068"/>
            <a:ext cx="3371404" cy="226814"/>
          </a:xfrm>
          <a:prstGeom prst="rect">
            <a:avLst/>
          </a:prstGeom>
          <a:noFill/>
          <a:ln/>
        </p:spPr>
        <p:txBody>
          <a:bodyPr wrap="none" lIns="0" tIns="0" rIns="0" bIns="0" rtlCol="0" anchor="t"/>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AUC-ROC • Precision • Recall • F1 • Confusion matrix</a:t>
            </a:r>
            <a:endParaRPr lang="en-US" sz="1100" dirty="0"/>
          </a:p>
        </p:txBody>
      </p:sp>
      <p:pic>
        <p:nvPicPr>
          <p:cNvPr id="12" name="Image 3" descr="preencoded.png"/>
          <p:cNvPicPr>
            <a:picLocks noChangeAspect="1"/>
          </p:cNvPicPr>
          <p:nvPr/>
        </p:nvPicPr>
        <p:blipFill>
          <a:blip r:embed="rId6"/>
          <a:stretch>
            <a:fillRect/>
          </a:stretch>
        </p:blipFill>
        <p:spPr>
          <a:xfrm>
            <a:off x="4754463" y="1694557"/>
            <a:ext cx="3893418" cy="1701180"/>
          </a:xfrm>
          <a:prstGeom prst="rect">
            <a:avLst/>
          </a:prstGeom>
        </p:spPr>
      </p:pic>
      <p:sp>
        <p:nvSpPr>
          <p:cNvPr id="13" name="Text 7"/>
          <p:cNvSpPr/>
          <p:nvPr/>
        </p:nvSpPr>
        <p:spPr>
          <a:xfrm>
            <a:off x="4749701" y="3657749"/>
            <a:ext cx="390294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Placeholders for ROC and confusion matrix — add model outputs.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28104"/>
            <a:ext cx="8151763" cy="359941"/>
          </a:xfrm>
          <a:prstGeom prst="rect">
            <a:avLst/>
          </a:prstGeom>
          <a:noFill/>
          <a:ln/>
        </p:spPr>
        <p:txBody>
          <a:bodyPr wrap="none" lIns="0" tIns="0" rIns="0" bIns="0" rtlCol="0" anchor="t"/>
          <a:lstStyle/>
          <a:p>
            <a:pPr marL="0" indent="0" algn="l">
              <a:lnSpc>
                <a:spcPct val="104000"/>
              </a:lnSpc>
              <a:buNone/>
            </a:pPr>
            <a:r>
              <a:rPr lang="en-US" sz="2250" dirty="0">
                <a:solidFill>
                  <a:srgbClr val="FFFFFF"/>
                </a:solidFill>
                <a:latin typeface="Roboto Medium" pitchFamily="34" charset="0"/>
                <a:ea typeface="Roboto Medium" pitchFamily="34" charset="-122"/>
                <a:cs typeface="Roboto Medium" pitchFamily="34" charset="-120"/>
              </a:rPr>
              <a:t>Power BI Dashboard</a:t>
            </a:r>
            <a:endParaRPr lang="en-US" sz="2250" dirty="0"/>
          </a:p>
        </p:txBody>
      </p:sp>
      <p:sp>
        <p:nvSpPr>
          <p:cNvPr id="3" name="Text 1"/>
          <p:cNvSpPr/>
          <p:nvPr/>
        </p:nvSpPr>
        <p:spPr>
          <a:xfrm>
            <a:off x="496119" y="975196"/>
            <a:ext cx="8608963" cy="166985"/>
          </a:xfrm>
          <a:prstGeom prst="rect">
            <a:avLst/>
          </a:prstGeom>
          <a:noFill/>
          <a:ln/>
        </p:spPr>
        <p:txBody>
          <a:bodyPr wrap="none" lIns="0" tIns="0" rIns="0" bIns="0" rtlCol="0" anchor="t"/>
          <a:lstStyle/>
          <a:p>
            <a:pPr marL="0" indent="0" algn="l">
              <a:lnSpc>
                <a:spcPct val="121000"/>
              </a:lnSpc>
              <a:buNone/>
            </a:pPr>
            <a:r>
              <a:rPr lang="en-US" sz="900" dirty="0">
                <a:solidFill>
                  <a:srgbClr val="CFD0D8"/>
                </a:solidFill>
                <a:latin typeface="Roboto" pitchFamily="34" charset="0"/>
                <a:ea typeface="Roboto" pitchFamily="34" charset="-122"/>
                <a:cs typeface="Roboto" pitchFamily="34" charset="-120"/>
              </a:rPr>
              <a:t>Interactive dashboard mockups — placeholders for final screenshots</a:t>
            </a:r>
            <a:endParaRPr lang="en-US" sz="900" dirty="0"/>
          </a:p>
        </p:txBody>
      </p:sp>
      <p:sp>
        <p:nvSpPr>
          <p:cNvPr id="5" name="Text 2"/>
          <p:cNvSpPr/>
          <p:nvPr/>
        </p:nvSpPr>
        <p:spPr>
          <a:xfrm>
            <a:off x="496119" y="4192042"/>
            <a:ext cx="7343998" cy="166985"/>
          </a:xfrm>
          <a:prstGeom prst="rect">
            <a:avLst/>
          </a:prstGeom>
          <a:noFill/>
          <a:ln/>
        </p:spPr>
        <p:txBody>
          <a:bodyPr wrap="none" lIns="0" tIns="0" rIns="0" bIns="0" rtlCol="0" anchor="t"/>
          <a:lstStyle/>
          <a:p>
            <a:pPr marL="0" indent="0" algn="l">
              <a:lnSpc>
                <a:spcPct val="121000"/>
              </a:lnSpc>
              <a:buNone/>
            </a:pPr>
            <a:endParaRPr lang="en-US" sz="900" dirty="0"/>
          </a:p>
        </p:txBody>
      </p:sp>
      <p:sp>
        <p:nvSpPr>
          <p:cNvPr id="6" name="Text 3"/>
          <p:cNvSpPr/>
          <p:nvPr/>
        </p:nvSpPr>
        <p:spPr>
          <a:xfrm>
            <a:off x="7668667" y="2761804"/>
            <a:ext cx="1441103" cy="166985"/>
          </a:xfrm>
          <a:prstGeom prst="rect">
            <a:avLst/>
          </a:prstGeom>
          <a:noFill/>
          <a:ln/>
        </p:spPr>
        <p:txBody>
          <a:bodyPr wrap="none" lIns="0" tIns="0" rIns="0" bIns="0" rtlCol="0" anchor="t"/>
          <a:lstStyle/>
          <a:p>
            <a:pPr marL="0" indent="0" algn="l">
              <a:lnSpc>
                <a:spcPct val="121000"/>
              </a:lnSpc>
              <a:buNone/>
            </a:pPr>
            <a:endParaRPr lang="en-US" sz="900" dirty="0"/>
          </a:p>
        </p:txBody>
      </p:sp>
      <p:sp>
        <p:nvSpPr>
          <p:cNvPr id="7" name="Text 4"/>
          <p:cNvSpPr/>
          <p:nvPr/>
        </p:nvSpPr>
        <p:spPr>
          <a:xfrm>
            <a:off x="496119" y="4548411"/>
            <a:ext cx="8608963" cy="166985"/>
          </a:xfrm>
          <a:prstGeom prst="rect">
            <a:avLst/>
          </a:prstGeom>
          <a:noFill/>
          <a:ln/>
        </p:spPr>
        <p:txBody>
          <a:bodyPr wrap="none" lIns="0" tIns="0" rIns="0" bIns="0" rtlCol="0" anchor="t"/>
          <a:lstStyle/>
          <a:p>
            <a:pPr marL="0" indent="0" algn="l">
              <a:lnSpc>
                <a:spcPct val="121000"/>
              </a:lnSpc>
              <a:buNone/>
            </a:pPr>
            <a:r>
              <a:rPr lang="en-US" sz="900" dirty="0">
                <a:solidFill>
                  <a:srgbClr val="CFD0D8"/>
                </a:solidFill>
                <a:latin typeface="Roboto" pitchFamily="34" charset="0"/>
                <a:ea typeface="Roboto" pitchFamily="34" charset="-122"/>
                <a:cs typeface="Roboto" pitchFamily="34" charset="-120"/>
              </a:rPr>
              <a:t>Key views: Campaign Overview • Customer Segments • Campaign Effectiveness</a:t>
            </a:r>
            <a:endParaRPr lang="en-US" sz="900" dirty="0"/>
          </a:p>
        </p:txBody>
      </p:sp>
      <p:pic>
        <p:nvPicPr>
          <p:cNvPr id="9" name="Picture 8">
            <a:extLst>
              <a:ext uri="{FF2B5EF4-FFF2-40B4-BE49-F238E27FC236}">
                <a16:creationId xmlns:a16="http://schemas.microsoft.com/office/drawing/2014/main" id="{1BDC41AC-9855-0AD6-5432-72A048AE7D58}"/>
              </a:ext>
            </a:extLst>
          </p:cNvPr>
          <p:cNvPicPr>
            <a:picLocks noChangeAspect="1"/>
          </p:cNvPicPr>
          <p:nvPr/>
        </p:nvPicPr>
        <p:blipFill>
          <a:blip r:embed="rId3"/>
          <a:stretch>
            <a:fillRect/>
          </a:stretch>
        </p:blipFill>
        <p:spPr>
          <a:xfrm>
            <a:off x="439940" y="1121161"/>
            <a:ext cx="5992391" cy="34443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971699"/>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Key Findings &amp; Recommendations</a:t>
            </a:r>
            <a:endParaRPr lang="en-US" sz="27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698203"/>
            <a:ext cx="354360" cy="354360"/>
          </a:xfrm>
          <a:prstGeom prst="rect">
            <a:avLst/>
          </a:prstGeom>
        </p:spPr>
      </p:pic>
      <p:sp>
        <p:nvSpPr>
          <p:cNvPr id="4" name="Text 1"/>
          <p:cNvSpPr/>
          <p:nvPr/>
        </p:nvSpPr>
        <p:spPr>
          <a:xfrm>
            <a:off x="1027658" y="1698203"/>
            <a:ext cx="2067595"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Prioritize high-propensity segments</a:t>
            </a:r>
            <a:endParaRPr lang="en-US" sz="1350" dirty="0"/>
          </a:p>
        </p:txBody>
      </p:sp>
      <p:sp>
        <p:nvSpPr>
          <p:cNvPr id="5" name="Text 2"/>
          <p:cNvSpPr/>
          <p:nvPr/>
        </p:nvSpPr>
        <p:spPr>
          <a:xfrm>
            <a:off x="1027658" y="2226171"/>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Target jobs and education cohorts with higher conversion rates</a:t>
            </a:r>
            <a:endParaRPr lang="en-US" sz="11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2433" y="1698203"/>
            <a:ext cx="354360" cy="354360"/>
          </a:xfrm>
          <a:prstGeom prst="rect">
            <a:avLst/>
          </a:prstGeom>
        </p:spPr>
      </p:pic>
      <p:sp>
        <p:nvSpPr>
          <p:cNvPr id="7" name="Text 3"/>
          <p:cNvSpPr/>
          <p:nvPr/>
        </p:nvSpPr>
        <p:spPr>
          <a:xfrm>
            <a:off x="3803972" y="1698203"/>
            <a:ext cx="2067595"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Optimize timing</a:t>
            </a:r>
            <a:endParaRPr lang="en-US" sz="1350" dirty="0"/>
          </a:p>
        </p:txBody>
      </p:sp>
      <p:sp>
        <p:nvSpPr>
          <p:cNvPr id="8" name="Text 4"/>
          <p:cNvSpPr/>
          <p:nvPr/>
        </p:nvSpPr>
        <p:spPr>
          <a:xfrm>
            <a:off x="3803972" y="2004715"/>
            <a:ext cx="206759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Leverage campaign recency and day-of-week signals</a:t>
            </a:r>
            <a:endParaRPr lang="en-US" sz="11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48747" y="1698203"/>
            <a:ext cx="354360" cy="354360"/>
          </a:xfrm>
          <a:prstGeom prst="rect">
            <a:avLst/>
          </a:prstGeom>
        </p:spPr>
      </p:pic>
      <p:sp>
        <p:nvSpPr>
          <p:cNvPr id="10" name="Text 5"/>
          <p:cNvSpPr/>
          <p:nvPr/>
        </p:nvSpPr>
        <p:spPr>
          <a:xfrm>
            <a:off x="6580287" y="1698203"/>
            <a:ext cx="2067595"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Refine offer personalization</a:t>
            </a:r>
            <a:endParaRPr lang="en-US" sz="1350" dirty="0"/>
          </a:p>
        </p:txBody>
      </p:sp>
      <p:sp>
        <p:nvSpPr>
          <p:cNvPr id="11" name="Text 6"/>
          <p:cNvSpPr/>
          <p:nvPr/>
        </p:nvSpPr>
        <p:spPr>
          <a:xfrm>
            <a:off x="6580287" y="2226171"/>
            <a:ext cx="206759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Use feature-derived segments for tailored messaging</a:t>
            </a:r>
            <a:endParaRPr lang="en-US" sz="11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3190131"/>
            <a:ext cx="354360" cy="354360"/>
          </a:xfrm>
          <a:prstGeom prst="rect">
            <a:avLst/>
          </a:prstGeom>
        </p:spPr>
      </p:pic>
      <p:sp>
        <p:nvSpPr>
          <p:cNvPr id="13" name="Text 7"/>
          <p:cNvSpPr/>
          <p:nvPr/>
        </p:nvSpPr>
        <p:spPr>
          <a:xfrm>
            <a:off x="1027658" y="3190131"/>
            <a:ext cx="2067595"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Deploy model in marketing flow</a:t>
            </a:r>
            <a:endParaRPr lang="en-US" sz="1350" dirty="0"/>
          </a:p>
        </p:txBody>
      </p:sp>
      <p:sp>
        <p:nvSpPr>
          <p:cNvPr id="14" name="Text 8"/>
          <p:cNvSpPr/>
          <p:nvPr/>
        </p:nvSpPr>
        <p:spPr>
          <a:xfrm>
            <a:off x="1027658" y="3718099"/>
            <a:ext cx="206759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Score leads in real time; route to high-touch channels</a:t>
            </a:r>
            <a:endParaRPr lang="en-US" sz="11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72433" y="3190131"/>
            <a:ext cx="354360" cy="354360"/>
          </a:xfrm>
          <a:prstGeom prst="rect">
            <a:avLst/>
          </a:prstGeom>
        </p:spPr>
      </p:pic>
      <p:sp>
        <p:nvSpPr>
          <p:cNvPr id="16" name="Text 9"/>
          <p:cNvSpPr/>
          <p:nvPr/>
        </p:nvSpPr>
        <p:spPr>
          <a:xfrm>
            <a:off x="3803972" y="3190131"/>
            <a:ext cx="2067595" cy="221456"/>
          </a:xfrm>
          <a:prstGeom prst="rect">
            <a:avLst/>
          </a:prstGeom>
          <a:noFill/>
          <a:ln/>
        </p:spPr>
        <p:txBody>
          <a:bodyPr wrap="none" lIns="0" tIns="0" rIns="0" bIns="0" rtlCol="0" anchor="t"/>
          <a:lstStyle/>
          <a:p>
            <a:pPr marL="0" indent="0" algn="l">
              <a:lnSpc>
                <a:spcPct val="104000"/>
              </a:lnSpc>
              <a:buNone/>
            </a:pPr>
            <a:r>
              <a:rPr lang="en-US" sz="1350" dirty="0">
                <a:solidFill>
                  <a:srgbClr val="CFD0D8"/>
                </a:solidFill>
                <a:latin typeface="Roboto Medium" pitchFamily="34" charset="0"/>
                <a:ea typeface="Roboto Medium" pitchFamily="34" charset="-122"/>
                <a:cs typeface="Roboto Medium" pitchFamily="34" charset="-120"/>
              </a:rPr>
              <a:t>Continuous measurement</a:t>
            </a:r>
            <a:endParaRPr lang="en-US" sz="1350" dirty="0"/>
          </a:p>
        </p:txBody>
      </p:sp>
      <p:sp>
        <p:nvSpPr>
          <p:cNvPr id="17" name="Text 10"/>
          <p:cNvSpPr/>
          <p:nvPr/>
        </p:nvSpPr>
        <p:spPr>
          <a:xfrm>
            <a:off x="3803972" y="3496642"/>
            <a:ext cx="206759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A/B test model-driven campaigns; monitor lift and ROI</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225823"/>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FFFFF"/>
                </a:solidFill>
                <a:latin typeface="Roboto Medium" pitchFamily="34" charset="0"/>
                <a:ea typeface="Roboto Medium" pitchFamily="34" charset="-122"/>
                <a:cs typeface="Roboto Medium" pitchFamily="34" charset="-120"/>
              </a:rPr>
              <a:t>Thank You</a:t>
            </a:r>
            <a:endParaRPr lang="en-US" sz="2750" dirty="0"/>
          </a:p>
        </p:txBody>
      </p:sp>
      <p:sp>
        <p:nvSpPr>
          <p:cNvPr id="3" name="Text 1"/>
          <p:cNvSpPr/>
          <p:nvPr/>
        </p:nvSpPr>
        <p:spPr>
          <a:xfrm>
            <a:off x="496119" y="2242542"/>
            <a:ext cx="4752677"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D0D8"/>
                </a:solidFill>
                <a:latin typeface="Roboto" pitchFamily="34" charset="0"/>
                <a:ea typeface="Roboto" pitchFamily="34" charset="-122"/>
                <a:cs typeface="Roboto" pitchFamily="34" charset="-120"/>
              </a:rPr>
              <a:t>Thank you for your time and support throughout this journey. Special thanks to the NTI course for this valuable experience and to instructor Mayar Swilam for the guidance, encouragement, and knowledge shared along the way.</a:t>
            </a:r>
            <a:endParaRPr lang="en-US" sz="1100" dirty="0"/>
          </a:p>
        </p:txBody>
      </p:sp>
      <p:sp>
        <p:nvSpPr>
          <p:cNvPr id="4" name="Shape 2"/>
          <p:cNvSpPr/>
          <p:nvPr/>
        </p:nvSpPr>
        <p:spPr>
          <a:xfrm>
            <a:off x="496119" y="3309268"/>
            <a:ext cx="517922" cy="215354"/>
          </a:xfrm>
          <a:prstGeom prst="roundRect">
            <a:avLst>
              <a:gd name="adj" fmla="val 22119"/>
            </a:avLst>
          </a:prstGeom>
          <a:noFill/>
          <a:ln w="4763">
            <a:solidFill>
              <a:srgbClr val="5A6ED8"/>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581174" y="3360241"/>
            <a:ext cx="113407" cy="113407"/>
          </a:xfrm>
          <a:prstGeom prst="rect">
            <a:avLst/>
          </a:prstGeom>
        </p:spPr>
      </p:pic>
      <p:sp>
        <p:nvSpPr>
          <p:cNvPr id="6" name="Text 3"/>
          <p:cNvSpPr/>
          <p:nvPr/>
        </p:nvSpPr>
        <p:spPr>
          <a:xfrm>
            <a:off x="751284" y="3351758"/>
            <a:ext cx="634901" cy="130373"/>
          </a:xfrm>
          <a:prstGeom prst="rect">
            <a:avLst/>
          </a:prstGeom>
          <a:noFill/>
          <a:ln/>
        </p:spPr>
        <p:txBody>
          <a:bodyPr wrap="none" lIns="0" tIns="0" rIns="0" bIns="0" rtlCol="0" anchor="t"/>
          <a:lstStyle/>
          <a:p>
            <a:pPr marL="0" indent="0" algn="l">
              <a:lnSpc>
                <a:spcPct val="96000"/>
              </a:lnSpc>
              <a:buNone/>
            </a:pPr>
            <a:r>
              <a:rPr lang="en-US" sz="850" dirty="0">
                <a:solidFill>
                  <a:srgbClr val="5A6ED8"/>
                </a:solidFill>
                <a:latin typeface="Roboto" pitchFamily="34" charset="0"/>
                <a:ea typeface="Roboto" pitchFamily="34" charset="-122"/>
                <a:cs typeface="Roboto" pitchFamily="34" charset="-120"/>
              </a:rPr>
              <a:t>NTI</a:t>
            </a:r>
            <a:endParaRPr lang="en-US" sz="850" dirty="0"/>
          </a:p>
        </p:txBody>
      </p:sp>
      <p:sp>
        <p:nvSpPr>
          <p:cNvPr id="7" name="Text 4"/>
          <p:cNvSpPr/>
          <p:nvPr/>
        </p:nvSpPr>
        <p:spPr>
          <a:xfrm>
            <a:off x="1084883" y="3351758"/>
            <a:ext cx="1348532" cy="130373"/>
          </a:xfrm>
          <a:prstGeom prst="rect">
            <a:avLst/>
          </a:prstGeom>
          <a:noFill/>
          <a:ln/>
        </p:spPr>
        <p:txBody>
          <a:bodyPr wrap="none" lIns="0" tIns="0" rIns="0" bIns="0" rtlCol="0" anchor="t"/>
          <a:lstStyle/>
          <a:p>
            <a:pPr marL="0" indent="0" algn="l">
              <a:lnSpc>
                <a:spcPct val="96000"/>
              </a:lnSpc>
              <a:buNone/>
            </a:pPr>
            <a:r>
              <a:rPr lang="en-US" sz="850" dirty="0">
                <a:solidFill>
                  <a:srgbClr val="5A6ED8"/>
                </a:solidFill>
                <a:latin typeface="Roboto" pitchFamily="34" charset="0"/>
                <a:ea typeface="Roboto" pitchFamily="34" charset="-122"/>
                <a:cs typeface="Roboto" pitchFamily="34" charset="-120"/>
              </a:rPr>
              <a:t>DATA ANALYTICS</a:t>
            </a:r>
            <a:endParaRPr lang="en-US" sz="850" dirty="0"/>
          </a:p>
        </p:txBody>
      </p:sp>
      <p:pic>
        <p:nvPicPr>
          <p:cNvPr id="8" name="Image 1" descr="preencoded.png"/>
          <p:cNvPicPr>
            <a:picLocks noChangeAspect="1"/>
          </p:cNvPicPr>
          <p:nvPr/>
        </p:nvPicPr>
        <p:blipFill>
          <a:blip r:embed="rId4"/>
          <a:stretch>
            <a:fillRect/>
          </a:stretch>
        </p:blipFill>
        <p:spPr>
          <a:xfrm>
            <a:off x="5599435" y="2040880"/>
            <a:ext cx="3053135" cy="1717328"/>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497</TotalTime>
  <Words>323</Words>
  <Application>Microsoft Office PowerPoint</Application>
  <PresentationFormat>On-screen Show (16:9)</PresentationFormat>
  <Paragraphs>61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Century Gothic</vt:lpstr>
      <vt:lpstr>Roboto</vt:lpstr>
      <vt:lpstr>Wingdings 3</vt:lpstr>
      <vt:lpstr>Roboto Medium</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Ehab Sameih</cp:lastModifiedBy>
  <cp:revision>6</cp:revision>
  <dcterms:created xsi:type="dcterms:W3CDTF">2026-07-24T00:27:09Z</dcterms:created>
  <dcterms:modified xsi:type="dcterms:W3CDTF">2026-07-25T08:41:18Z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ies>
</file>